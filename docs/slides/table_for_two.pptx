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22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220"/>
                </a:solidFill>
                <a:latin typeface="Calibri"/>
              </a:rPr>
              <a:t>Latency per action chunk (ms, 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per action chunk (ms)</c:v>
                </c:pt>
              </c:strCache>
            </c:strRef>
          </c:tx>
          <c:spPr>
            <a:solidFill>
              <a:srgbClr val="2C5A7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FP16 · Intel iGPU</c:v>
                  </c:pt>
                  <c:pt idx="1">
                    <c:v>FP32 · Intel iGPU</c:v>
                  </c:pt>
                  <c:pt idx="2">
                    <c:v>INT8 · CPU</c:v>
                  </c:pt>
                  <c:pt idx="3">
                    <c:v>FP32 · CPU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10.1</c:v>
                </c:pt>
                <c:pt idx="2">
                  <c:v>5.9</c:v>
                </c:pt>
                <c:pt idx="3">
                  <c:v>15.8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2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2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C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spoken sentence in, a fully set dinner table out. Two simulated SO-101 arms, a language planner and a visuomotor policy, all running on OpenVINO.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brief's own scenario. We built the scene from scratch: the official SO-101 model twice, a cabinet with a sliding drawer, and the table-setting props.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Hierarchical by design: learning a minute-long bimanual task end to end in a week is not realistic, so language planning and visuomotor control are separate, and every model runs through OpenVINO.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Arms are named by the user when they want; the plan is simulated for hand state before anything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seeds start at 100 so the ten evaluation seeds stay unseen. The planner's subtask token is how language reaches the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policy re-plans once per second, so even FP32 uses under two percent of the control budget; INT8 frees the CPU for simulation and the planner.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Randomisation per seed: object positions, masses, friction, lighting and table colour.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Everything shown is reproducible with the commands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:\2026claude\bimanual-vla\out\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737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for Two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SO-101 arms set a dinner table from one sentence — planned and driven on OpenVINO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760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B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 Summit Hackathon · Intel Physical AI Online Challenge ·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brief: set a dinner table with two arms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drawer and take out the spoon and fork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fork from one arm to the other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plate on the placemat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mug with one arm while the other pours from the bottle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natural-language instruction; see the scene through cameras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robust across 10 randomised scenes</a:t>
            </a:r>
            <a:endParaRPr lang="en-US" sz="1600" dirty="0"/>
          </a:p>
        </p:txBody>
      </p:sp>
      <p:pic>
        <p:nvPicPr>
          <p:cNvPr id="4" name="Image 0" descr="G:\2026claude\bimanual-vla\out\cover_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605272" cy="3154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4754880"/>
            <a:ext cx="5605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· 2 × SO-101 · 12 position actuators · 3 cameras · 20 Hz control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C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2176272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or text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6517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Speechmatics transcribes a spoken instruction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1806" y="2743200"/>
            <a:ext cx="256032" cy="274320"/>
          </a:xfrm>
          <a:prstGeom prst="rightArrow">
            <a:avLst/>
          </a:prstGeom>
          <a:solidFill>
            <a:srgbClr val="5B6864"/>
          </a:solidFill>
          <a:ln w="12700">
            <a:solidFill>
              <a:srgbClr val="5B6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19324" y="201168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C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3916" y="2176272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83916" y="26517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 INT4 on OpenVINO GenAI writes a checked plan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32490" y="2743200"/>
            <a:ext cx="256032" cy="274320"/>
          </a:xfrm>
          <a:prstGeom prst="rightArrow">
            <a:avLst/>
          </a:prstGeom>
          <a:solidFill>
            <a:srgbClr val="5B6864"/>
          </a:solidFill>
          <a:ln w="12700">
            <a:solidFill>
              <a:srgbClr val="5B6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90008" y="201168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C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4600" y="2176272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executor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54600" y="26517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 token and grasp intent for each stage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03174" y="2743200"/>
            <a:ext cx="256032" cy="274320"/>
          </a:xfrm>
          <a:prstGeom prst="rightArrow">
            <a:avLst/>
          </a:prstGeom>
          <a:solidFill>
            <a:srgbClr val="5B6864"/>
          </a:solidFill>
          <a:ln w="12700">
            <a:solidFill>
              <a:srgbClr val="5B6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0691" y="201168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BF1CF"/>
          </a:solidFill>
          <a:ln w="31750">
            <a:solidFill>
              <a:srgbClr val="E5B2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283" y="2176272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policy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525283" y="26517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cameras + 12 joints → 12 joint targets at 10 Hz, OpenVINO INT8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373857" y="2743200"/>
            <a:ext cx="256032" cy="274320"/>
          </a:xfrm>
          <a:prstGeom prst="rightArrow">
            <a:avLst/>
          </a:prstGeom>
          <a:solidFill>
            <a:srgbClr val="5B6864"/>
          </a:solidFill>
          <a:ln w="12700">
            <a:solidFill>
              <a:srgbClr val="5B6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1375" y="201168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C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95967" y="2176272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MuJoCo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795967" y="26517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SO-101 arms, drawer, plate, mug, bottle, utensils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IK skills generate the demonstrations and finish any stage the policy times out on (hybrid mode, reported separately).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planner that cannot hand the robot a bad plan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1B2220"/>
          </a:solidFill>
          <a:ln w="12700">
            <a:solidFill>
              <a:srgbClr val="1B2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B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"Hold the cup with the right arm and pour with the left."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9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9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pick_hold right mug ; pick_lift left bottle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9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left mug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9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left bottle ; place right mug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9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 left ; home right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the compact plan; the parser turns it into the JSON the executor runs.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02920" cy="502920"/>
          </a:xfrm>
          <a:prstGeom prst="ellipse">
            <a:avLst/>
          </a:prstGeom>
          <a:solidFill>
            <a:srgbClr val="E5B20F"/>
          </a:solidFill>
          <a:ln w="12700">
            <a:solidFill>
              <a:srgbClr val="E5B2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444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 plan language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8470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stage per line, ~60 tokens instead of ~400 of JSON a 1.5 B model breaks.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834640"/>
            <a:ext cx="502920" cy="502920"/>
          </a:xfrm>
          <a:prstGeom prst="ellipse">
            <a:avLst/>
          </a:prstGeom>
          <a:solidFill>
            <a:srgbClr val="E5B20F"/>
          </a:solidFill>
          <a:ln w="12700">
            <a:solidFill>
              <a:srgbClr val="E5B2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816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+ hand-state check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2186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skills and objects; simulate what each hand holds — no pouring without the bottle.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E5B20F"/>
          </a:solidFill>
          <a:ln w="12700">
            <a:solidFill>
              <a:srgbClr val="E5B2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4187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Retry, repair, fall back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5902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go back to the model once; bad steps are dropped; a keyword planner is last resort.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55321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 s per plan on CPU · 2.22 s on Intel iGPU · 16 unit tests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policy trained on randomised demonstrations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5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55848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5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32,285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355848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at 10 Hz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63056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5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20k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163056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70264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5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970264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actions per chunk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918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overhead + operator camera (128 × 128), 12 joint positions, one-hot subtask from the planner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 next 20 joint-target vectors; the arm executes 10 and re-plans every second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Demonstrations: scripted IK skills on randomised seeds (50 of 51 seeds kept); held-out seeds 0–9 never seen in 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Grasping is constraint-assisted: a closing gripper attaches the object it was sent for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OpenVINO on Intel: INT8 policy in 5.9 ms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5B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2.7×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651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with NNCF INT8 than FP32 on the same CPU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34747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error after INT8: 0.02012 rad mean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Planner: INT4 LLM on OpenVINO GenAI, CPU and iGPU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keep dynamic shapes; runtimes pin batch-1 shapes at load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Intel Core i9-14900HX + Raptor Lake iGPU; bench/benchmark.py reproduces every number on a Core Ultra in one command.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10 held-out randomised seeds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Sub-goal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Drawer opened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Spoon placed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 handed off + placed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on placemat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Mug placed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Spoon: grasped in 10/10 seeds, set down 3.3–4.6 cm from target (pass line 3 cm). Pour: failed seeds stop at ~47° tilt.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955280" y="1463040"/>
            <a:ext cx="3685032" cy="3328416"/>
          </a:xfrm>
          <a:prstGeom prst="roundRect">
            <a:avLst>
              <a:gd name="adj" fmla="val 1648"/>
            </a:avLst>
          </a:prstGeom>
          <a:solidFill>
            <a:srgbClr val="FFFFFF"/>
          </a:solidFill>
          <a:ln w="12700">
            <a:solidFill>
              <a:srgbClr val="D5DC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1488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Grasps are constraint-assisted, not finger-contact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stages finished by a script are counted as assisted, never as policy wins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on Core i9 + iGPU; Core Ultra run is one command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E5B20F"/>
          </a:solidFill>
          <a:ln w="12700">
            <a:solidFill>
              <a:srgbClr val="E5B20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Contact-rich grasping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attach constraint with finger contact and train on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2011680"/>
            <a:ext cx="457200" cy="457200"/>
          </a:xfrm>
          <a:prstGeom prst="ellipse">
            <a:avLst/>
          </a:prstGeom>
          <a:solidFill>
            <a:srgbClr val="E5B20F"/>
          </a:solidFill>
          <a:ln w="12700">
            <a:solidFill>
              <a:srgbClr val="E5B2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Ultra NPU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1546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INT8 policy on the NPU and the planner on the iGPU concurrently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2011680"/>
            <a:ext cx="457200" cy="457200"/>
          </a:xfrm>
          <a:prstGeom prst="ellipse">
            <a:avLst/>
          </a:prstGeom>
          <a:solidFill>
            <a:srgbClr val="E5B20F"/>
          </a:solidFill>
          <a:ln w="12700">
            <a:solidFill>
              <a:srgbClr val="E5B20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SO-101 arms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1546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plan language and policy interface on two physical arms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B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 Two · code, benchmark and every number in this deck are reproducible from the repository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for Two</dc:title>
  <dc:subject>PptxGenJS Presentation</dc:subject>
  <dc:creator>PptxGenJS</dc:creator>
  <cp:lastModifiedBy>PptxGenJS</cp:lastModifiedBy>
  <cp:revision>1</cp:revision>
  <dcterms:created xsi:type="dcterms:W3CDTF">2026-09-11T09:39:16Z</dcterms:created>
  <dcterms:modified xsi:type="dcterms:W3CDTF">2026-09-11T09:39:16Z</dcterms:modified>
</cp:coreProperties>
</file>