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220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B2220"/>
                </a:solidFill>
                <a:latin typeface="Calibri"/>
              </a:rPr>
              <a:t>Latency per action chunk (ms, lower is better)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Latency per action chunk (ms)</c:v>
                </c:pt>
              </c:strCache>
            </c:strRef>
          </c:tx>
          <c:spPr>
            <a:solidFill>
              <a:srgbClr val="2C5A7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22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FP16 · Intel iGPU</c:v>
                  </c:pt>
                  <c:pt idx="1">
                    <c:v>FP32 · Intel iGPU</c:v>
                  </c:pt>
                  <c:pt idx="2">
                    <c:v>INT8 · CPU</c:v>
                  </c:pt>
                  <c:pt idx="3">
                    <c:v>FP32 · CPU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13.7</c:v>
                </c:pt>
                <c:pt idx="1">
                  <c:v>13.8</c:v>
                </c:pt>
                <c:pt idx="2">
                  <c:v>4.9</c:v>
                </c:pt>
                <c:pt idx="3">
                  <c:v>16.5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22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22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DC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8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spoken sentence in, a fully set dinner table out. Two simulated SO-101 arms, a language planner and a visuomotor policy, all running on OpenVINO.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brief's own scenario. We built the scene from scratch: the official SO-101 model twice, a cabinet with a sliding drawer, and the table-setting props.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Hierarchical by design: learning a minute-long bimanual task end to end in a week is not realistic, so language planning and visuomotor control are separate, and every model runs through OpenVINO.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Arms are named by the user when they want; the plan is simulated for hand state before anything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seeds start at 100 so the ten evaluation seeds stay unseen. The planner's subtask token is how language reaches the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policy re-plans once per second, so even FP32 uses under two percent of the control budget; INT8 frees the CPU for simulation and the planner.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Randomisation per seed: object positions, masses, friction, lighting and table colour.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Everything shown is reproducible with the commands in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SUS\bimanual-vla\out\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661385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373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for Two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92608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4E9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SO-101 arms set a dinner table from one sentence — planned and driven on OpenVINO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B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Infra Summit Hackathon · Intel Physical AI Online Challenge · 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brief: set a dinner table with two arms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brief: drawer, spoon and fork, plate on the placemat, an arm-to-arm hand-over, one arm holds the mug while the other pours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built: both arms carry the plate, the spoon is handed over, the mug stands on the table while the other arm pours (reach — slide 7)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held by finger contact and friction only; the water is 24 beads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 natural-language instruction; see the scene through cameras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robust across 10 randomised scenes</a:t>
            </a:r>
            <a:endParaRPr lang="en-US" sz="1600" dirty="0"/>
          </a:p>
        </p:txBody>
      </p:sp>
      <p:pic>
        <p:nvPicPr>
          <p:cNvPr id="4" name="Image 0" descr="C:\Users\ASUS\bimanual-vla\out\cover_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63040"/>
            <a:ext cx="5605272" cy="3154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035040" y="4754880"/>
            <a:ext cx="5605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 · 2 × SO-101 · 12 position actuators · 5 cameras (2 on the wrists) · 20 Hz control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0116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5DC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2176272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Speech or text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651760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Speechmatics transcribes a spoken instruction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61806" y="2743200"/>
            <a:ext cx="256032" cy="274320"/>
          </a:xfrm>
          <a:prstGeom prst="rightArrow">
            <a:avLst/>
          </a:prstGeom>
          <a:solidFill>
            <a:srgbClr val="5B6864"/>
          </a:solidFill>
          <a:ln w="12700">
            <a:solidFill>
              <a:srgbClr val="5B6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19324" y="2011680"/>
            <a:ext cx="20116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5DC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83916" y="2176272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983916" y="2651760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Qwen2.5-1.5B INT4 on OpenVINO GenAI writes a checked plan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32490" y="2743200"/>
            <a:ext cx="256032" cy="274320"/>
          </a:xfrm>
          <a:prstGeom prst="rightArrow">
            <a:avLst/>
          </a:prstGeom>
          <a:solidFill>
            <a:srgbClr val="5B6864"/>
          </a:solidFill>
          <a:ln w="12700">
            <a:solidFill>
              <a:srgbClr val="5B6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90008" y="2011680"/>
            <a:ext cx="20116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5DC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4600" y="2176272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executor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254600" y="2651760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Subtask token per stage; simulator state ends it (a learned head is experimental)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03174" y="2743200"/>
            <a:ext cx="256032" cy="274320"/>
          </a:xfrm>
          <a:prstGeom prst="rightArrow">
            <a:avLst/>
          </a:prstGeom>
          <a:solidFill>
            <a:srgbClr val="5B6864"/>
          </a:solidFill>
          <a:ln w="12700">
            <a:solidFill>
              <a:srgbClr val="5B686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60691" y="2011680"/>
            <a:ext cx="2011680" cy="1737360"/>
          </a:xfrm>
          <a:prstGeom prst="roundRect">
            <a:avLst>
              <a:gd name="adj" fmla="val 4211"/>
            </a:avLst>
          </a:prstGeom>
          <a:solidFill>
            <a:srgbClr val="FBF1CF"/>
          </a:solidFill>
          <a:ln w="31750">
            <a:solidFill>
              <a:srgbClr val="E5B20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25283" y="2176272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 policy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525283" y="2651760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cameras (2 scene + 2 wrist) + 12 joints → 12 joint targets, OpenVINO INT8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373857" y="2743200"/>
            <a:ext cx="256032" cy="274320"/>
          </a:xfrm>
          <a:prstGeom prst="rightArrow">
            <a:avLst/>
          </a:prstGeom>
          <a:solidFill>
            <a:srgbClr val="5B6864"/>
          </a:solidFill>
          <a:ln w="12700">
            <a:solidFill>
              <a:srgbClr val="5B6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1375" y="2011680"/>
            <a:ext cx="20116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5DC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95967" y="2176272"/>
            <a:ext cx="1682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MuJoCo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795967" y="2651760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SO-101 arms, contact-only grasps, drawer, plate, mug, bead water, utensils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C5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Scripted IK skills generate the demonstrations and finish any stage the policy times out on (hybrid mode, reported separately).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planner that cannot hand the robot a bad plan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2834640"/>
          </a:xfrm>
          <a:prstGeom prst="roundRect">
            <a:avLst>
              <a:gd name="adj" fmla="val 1935"/>
            </a:avLst>
          </a:prstGeom>
          <a:solidFill>
            <a:srgbClr val="1B2220"/>
          </a:solidFill>
          <a:ln w="12700">
            <a:solidFill>
              <a:srgbClr val="1B2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B2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"Pour a drink, then pass the spoon from the left arm to the right."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9E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9E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open_drawer left ; pick_place right mug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9E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pick_lift right bottle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9E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pour right mug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9E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right bottle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9E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handoff spoon left right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9E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 left ; home right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writes the compact plan; the parser turns it into the JSON the executor runs.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0" y="1463040"/>
            <a:ext cx="502920" cy="502920"/>
          </a:xfrm>
          <a:prstGeom prst="ellipse">
            <a:avLst/>
          </a:prstGeom>
          <a:solidFill>
            <a:srgbClr val="E5B20F"/>
          </a:solidFill>
          <a:ln w="12700">
            <a:solidFill>
              <a:srgbClr val="E5B20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086600" y="14447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Compact plan language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086600" y="184708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stage per line, ~60 tokens instead of ~400 of JSON a 1.5 B model breaks.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0" y="2834640"/>
            <a:ext cx="502920" cy="502920"/>
          </a:xfrm>
          <a:prstGeom prst="ellipse">
            <a:avLst/>
          </a:prstGeom>
          <a:solidFill>
            <a:srgbClr val="E5B20F"/>
          </a:solidFill>
          <a:ln w="12700">
            <a:solidFill>
              <a:srgbClr val="E5B20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8163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Syntax + hand-state check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321868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skills and objects; simulate what each hand holds — no pouring without the bottle.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0" y="4206240"/>
            <a:ext cx="502920" cy="502920"/>
          </a:xfrm>
          <a:prstGeom prst="ellipse">
            <a:avLst/>
          </a:prstGeom>
          <a:solidFill>
            <a:srgbClr val="E5B20F"/>
          </a:solidFill>
          <a:ln w="12700">
            <a:solidFill>
              <a:srgbClr val="E5B20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187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Complete, retry, fall back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459028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preconditions (bottle before a pour, drawer before a fork) are filled in and logged; errors go back to the model once; a keyword planner is last resort. 20 paraphrased instructions: 20/20 valid, 14/20 exactly right.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553212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5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1.44 s per plan on CPU · 2.34 s on Intel iGPU · 25 unit tests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 policy trained on randomised demonstrations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C5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55848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C5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405,058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355848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at 10 Hz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63056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C5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120k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163056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steps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70264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C5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8970264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actions per chunk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91840"/>
            <a:ext cx="110944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overhead, operator and both wrist cameras (128 × 128), 12 joint positions and velocities, one-hot subtask from the planner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next 20 joint-target vectors at 10 Hz; inferred every step and the overlapping chunks blended (temporal ensembling)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Demonstrations: scripted contact skills on randomised seeds (29/30 on unseen seeds 1000-1029); held-out seeds 0–9 never seen in training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object is attached to a gripper: everything is held by finger contact and friction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OpenVINO on Intel: INT8 policy in 4.9 ms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72400" y="1554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5B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3.4×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7772400" y="26517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with NNCF INT8 than FP32 on the same CPU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347472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error after INT8: 0.00501 rad mean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Planner: INT4 LLM on OpenVINO GenAI, CPU and iGPU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keep dynamic shapes; runtimes pin batch-1 shapes at load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350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Intel Core i9-14900HX + Raptor Lake iGPU; bench/benchmark.py reproduces every number on a Core Ultra in one command.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10 randomised seeds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1371600"/>
                <a:gridCol w="20116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Sub-goal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policy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(policy + script)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Drawer opened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(0 assisted)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Mug placed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(0 assisted)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 on placemat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(0 assisted)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placed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(2 assisted)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Spoon handed over + placed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(8 assisted)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Poured (≥ 60 % of the water)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(10 assisted)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Bottle put back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(3 assisted)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task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 (2.3 stages scripted per run)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C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C5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(120k steps): plate, drawer + mug, fork 8-10/10. From a scripted start: pour 3/10 (84% of the water in, but &gt;2 beads spilled), bottle back 10/10, hand-over 5/10. Chained, those states drift and script takeovers knock placed items, so no run sets the whole table.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955280" y="1463040"/>
            <a:ext cx="3685032" cy="5029200"/>
          </a:xfrm>
          <a:prstGeom prst="roundRect">
            <a:avLst>
              <a:gd name="adj" fmla="val 1489"/>
            </a:avLst>
          </a:prstGeom>
          <a:solidFill>
            <a:srgbClr val="FFFFFF"/>
          </a:solidFill>
          <a:ln w="12700">
            <a:solidFill>
              <a:srgbClr val="D5DC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83880" y="1645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limits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2148840"/>
            <a:ext cx="3291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Gripper capped at the stock servo's sustainable 0.8 N·m with μ 0.8 pads (Menagerie's default is 12 V stall torque, μ 1); props are child-tableware scale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0–9 are the seeds the scripted skills were tuned on (seed 0 unrandomised); 30 unseen seeds are reported next to them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completion is judged from simulator state and the policy is told the current stage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mug stands on the table during the pour — the other hand cannot steady it within reach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is 24 small beads, not a fluid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stages a script had to finish are counted as assisted, never as policy wins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pour, bottle return and hand-over are run by the scripted skills, labelled on screen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on Core i9 + iGPU; Core Ultra run is one command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E5B20F"/>
          </a:solidFill>
          <a:ln w="12700">
            <a:solidFill>
              <a:srgbClr val="E5B20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651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Harder contact skills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Particle-fluid pouring and full-size cutlery with the same contact-only physics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97680" y="2011680"/>
            <a:ext cx="457200" cy="457200"/>
          </a:xfrm>
          <a:prstGeom prst="ellipse">
            <a:avLst/>
          </a:prstGeom>
          <a:solidFill>
            <a:srgbClr val="E5B20F"/>
          </a:solidFill>
          <a:ln w="12700">
            <a:solidFill>
              <a:srgbClr val="E5B20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97680" y="2651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Ultra NPU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31546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INT8 policy on the NPU and the planner on the iGPU concurrently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046720" y="2011680"/>
            <a:ext cx="457200" cy="457200"/>
          </a:xfrm>
          <a:prstGeom prst="ellipse">
            <a:avLst/>
          </a:prstGeom>
          <a:solidFill>
            <a:srgbClr val="E5B20F"/>
          </a:solidFill>
          <a:ln w="12700">
            <a:solidFill>
              <a:srgbClr val="E5B20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2651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SO-101 arms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31546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plan language and policy interface on two physical arms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B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for Two · code, benchmark and every number in this deck are reproducible from the repository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Table for Two</dc:title>
  <dc:subject>PptxGenJS Presentation</dc:subject>
  <dc:creator>PptxGenJS</dc:creator>
  <cp:lastModifiedBy>PptxGenJS</cp:lastModifiedBy>
  <cp:revision>1</cp:revision>
  <dcterms:created xsi:type="dcterms:W3CDTF">2026-09-16T14:00:02Z</dcterms:created>
  <dcterms:modified xsi:type="dcterms:W3CDTF">2026-09-16T14:00:02Z</dcterms:modified>
</cp:coreProperties>
</file>